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34E6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0A202"/>
          </a:solidFill>
          <a:ln/>
        </p:spPr>
      </p:sp>
      <p:sp>
        <p:nvSpPr>
          <p:cNvPr id="3" name="Shape 1"/>
          <p:cNvSpPr/>
          <p:nvPr/>
        </p:nvSpPr>
        <p:spPr>
          <a:xfrm>
            <a:off x="8595360" y="-1645920"/>
            <a:ext cx="5943600" cy="5943600"/>
          </a:xfrm>
          <a:prstGeom prst="ellipse">
            <a:avLst/>
          </a:prstGeom>
          <a:solidFill>
            <a:srgbClr val="FFFFFF">
              <a:alpha val="1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058400" y="4206240"/>
            <a:ext cx="3840480" cy="3840480"/>
          </a:xfrm>
          <a:prstGeom prst="ellipse">
            <a:avLst/>
          </a:prstGeom>
          <a:solidFill>
            <a:srgbClr val="F0A202">
              <a:alpha val="14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87452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F0A20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STAGE 0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48640" y="2331720"/>
            <a:ext cx="107899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Monorepo Foundation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548640" y="3977640"/>
            <a:ext cx="10241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E8EEE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project skeleton: backend, web app, shared code, and local infrastructure.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548640" y="5989320"/>
            <a:ext cx="2926080" cy="0"/>
          </a:xfrm>
          <a:prstGeom prst="line">
            <a:avLst/>
          </a:prstGeom>
          <a:noFill/>
          <a:ln w="25400">
            <a:solidFill>
              <a:srgbClr val="F0A20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608076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7D3C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Genuine Homes · East Africa real estate · rent · buy · installments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334E6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170432"/>
            <a:ext cx="12191695" cy="64008"/>
          </a:xfrm>
          <a:prstGeom prst="rect">
            <a:avLst/>
          </a:prstGeom>
          <a:solidFill>
            <a:srgbClr val="F0A202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8288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0A20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GOAL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457200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Why this stage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6400800"/>
            <a:ext cx="1109441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Genuine Homes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118585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48640" y="1554480"/>
            <a:ext cx="11094415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54000" indent="-254000">
              <a:lnSpc>
                <a:spcPct val="125000"/>
              </a:lnSpc>
              <a:spcAft>
                <a:spcPts val="1000"/>
              </a:spcAft>
              <a:buSzPct val="100000"/>
              <a:buChar char="▪"/>
            </a:pPr>
            <a:r>
              <a:rPr lang="en-US" sz="16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Stand up one repository for the whole product</a:t>
            </a:r>
            <a:endParaRPr lang="en-US" sz="1600" dirty="0"/>
          </a:p>
          <a:p>
            <a:pPr marL="254000" indent="-254000">
              <a:lnSpc>
                <a:spcPct val="125000"/>
              </a:lnSpc>
              <a:spcAft>
                <a:spcPts val="1000"/>
              </a:spcAft>
              <a:buSzPct val="100000"/>
              <a:buChar char="▪"/>
            </a:pPr>
            <a:r>
              <a:rPr lang="en-US" sz="16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Share domain types between backend and frontend from day one</a:t>
            </a:r>
            <a:endParaRPr lang="en-US" sz="1600" dirty="0"/>
          </a:p>
          <a:p>
            <a:pPr marL="254000" indent="-254000">
              <a:lnSpc>
                <a:spcPct val="125000"/>
              </a:lnSpc>
              <a:spcAft>
                <a:spcPts val="1000"/>
              </a:spcAft>
              <a:buSzPct val="100000"/>
              <a:buChar char="▪"/>
            </a:pPr>
            <a:r>
              <a:rPr lang="en-US" sz="16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Provide a real database to develop against locally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334E6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170432"/>
            <a:ext cx="12191695" cy="64008"/>
          </a:xfrm>
          <a:prstGeom prst="rect">
            <a:avLst/>
          </a:prstGeom>
          <a:solidFill>
            <a:srgbClr val="F0A202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8288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0A20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WAS BUILT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457200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pnpm workspace + local infra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6400800"/>
            <a:ext cx="1109441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Genuine Homes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118585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48640" y="1554480"/>
            <a:ext cx="11094415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54000" indent="-254000">
              <a:lnSpc>
                <a:spcPct val="125000"/>
              </a:lnSpc>
              <a:spcAft>
                <a:spcPts val="1000"/>
              </a:spcAft>
              <a:buSzPct val="100000"/>
              <a:buChar char="▪"/>
            </a:pPr>
            <a:r>
              <a:rPr lang="en-US" sz="1600" b="1" dirty="0">
                <a:solidFill>
                  <a:srgbClr val="334E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apps/api</a:t>
            </a:r>
            <a:pPr indent="0" marL="0">
              <a:lnSpc>
                <a:spcPct val="125000"/>
              </a:lnSpc>
              <a:spcAft>
                <a:spcPts val="1000"/>
              </a:spcAft>
              <a:buNone/>
            </a:pPr>
            <a:r>
              <a:rPr lang="en-US" sz="16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—  the NestJS backend</a:t>
            </a:r>
            <a:endParaRPr lang="en-US" sz="1600" dirty="0"/>
          </a:p>
          <a:p>
            <a:pPr marL="254000" indent="-254000">
              <a:lnSpc>
                <a:spcPct val="125000"/>
              </a:lnSpc>
              <a:spcAft>
                <a:spcPts val="1000"/>
              </a:spcAft>
              <a:buSzPct val="100000"/>
              <a:buChar char="▪"/>
            </a:pPr>
            <a:r>
              <a:rPr lang="en-US" sz="1600" b="1" dirty="0">
                <a:solidFill>
                  <a:srgbClr val="334E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apps/web</a:t>
            </a:r>
            <a:pPr indent="0" marL="0">
              <a:lnSpc>
                <a:spcPct val="125000"/>
              </a:lnSpc>
              <a:spcAft>
                <a:spcPts val="1000"/>
              </a:spcAft>
              <a:buNone/>
            </a:pPr>
            <a:r>
              <a:rPr lang="en-US" sz="16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—  the React web app (scaffolded in Stage 4)</a:t>
            </a:r>
            <a:endParaRPr lang="en-US" sz="1600" dirty="0"/>
          </a:p>
          <a:p>
            <a:pPr marL="254000" indent="-254000">
              <a:lnSpc>
                <a:spcPct val="125000"/>
              </a:lnSpc>
              <a:spcAft>
                <a:spcPts val="1000"/>
              </a:spcAft>
              <a:buSzPct val="100000"/>
              <a:buChar char="▪"/>
            </a:pPr>
            <a:r>
              <a:rPr lang="en-US" sz="1600" b="1" dirty="0">
                <a:solidFill>
                  <a:srgbClr val="334E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packages/shared</a:t>
            </a:r>
            <a:pPr indent="0" marL="0">
              <a:lnSpc>
                <a:spcPct val="125000"/>
              </a:lnSpc>
              <a:spcAft>
                <a:spcPts val="1000"/>
              </a:spcAft>
              <a:buNone/>
            </a:pPr>
            <a:r>
              <a:rPr lang="en-US" sz="16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—  TypeScript types + Zod schemas shared by both</a:t>
            </a:r>
            <a:endParaRPr lang="en-US" sz="1600" dirty="0"/>
          </a:p>
          <a:p>
            <a:pPr marL="254000" indent="-254000">
              <a:lnSpc>
                <a:spcPct val="125000"/>
              </a:lnSpc>
              <a:spcAft>
                <a:spcPts val="1000"/>
              </a:spcAft>
              <a:buSzPct val="100000"/>
              <a:buChar char="▪"/>
            </a:pPr>
            <a:r>
              <a:rPr lang="en-US" sz="1600" b="1" dirty="0">
                <a:solidFill>
                  <a:srgbClr val="334E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docker-compose</a:t>
            </a:r>
            <a:pPr indent="0" marL="0">
              <a:lnSpc>
                <a:spcPct val="125000"/>
              </a:lnSpc>
              <a:spcAft>
                <a:spcPts val="1000"/>
              </a:spcAft>
              <a:buNone/>
            </a:pPr>
            <a:r>
              <a:rPr lang="en-US" sz="16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—  PostgreSQL 16 + PostGIS 3.4 and Redis 7</a:t>
            </a:r>
            <a:endParaRPr lang="en-US" sz="1600" dirty="0"/>
          </a:p>
          <a:p>
            <a:pPr marL="254000" indent="-254000">
              <a:lnSpc>
                <a:spcPct val="125000"/>
              </a:lnSpc>
              <a:spcAft>
                <a:spcPts val="1000"/>
              </a:spcAft>
              <a:buSzPct val="100000"/>
              <a:buChar char="▪"/>
            </a:pPr>
            <a:r>
              <a:rPr lang="en-US" sz="1600" b="1" dirty="0">
                <a:solidFill>
                  <a:srgbClr val="334E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Root scripts</a:t>
            </a:r>
            <a:pPr indent="0" marL="0">
              <a:lnSpc>
                <a:spcPct val="125000"/>
              </a:lnSpc>
              <a:spcAft>
                <a:spcPts val="1000"/>
              </a:spcAft>
              <a:buNone/>
            </a:pPr>
            <a:r>
              <a:rPr lang="en-US" sz="16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—  db:up, db:migrate, db:seed, dev:api, dev:web, build, lint, test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334E6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170432"/>
            <a:ext cx="12191695" cy="64008"/>
          </a:xfrm>
          <a:prstGeom prst="rect">
            <a:avLst/>
          </a:prstGeom>
          <a:solidFill>
            <a:srgbClr val="F0A202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8288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0A20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DECISION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457200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Monorepo from day one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6400800"/>
            <a:ext cx="1109441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Genuine Homes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118585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48640" y="1554480"/>
            <a:ext cx="11094415" cy="4663440"/>
          </a:xfrm>
          <a:prstGeom prst="roundRect">
            <a:avLst>
              <a:gd name="adj" fmla="val 1176"/>
            </a:avLst>
          </a:prstGeom>
          <a:solidFill>
            <a:srgbClr val="F3F7F4"/>
          </a:solidFill>
          <a:ln w="12700">
            <a:solidFill>
              <a:srgbClr val="334E6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1554480"/>
            <a:ext cx="109728" cy="4663440"/>
          </a:xfrm>
          <a:prstGeom prst="rect">
            <a:avLst/>
          </a:prstGeom>
          <a:solidFill>
            <a:srgbClr val="F0A202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1691640"/>
            <a:ext cx="106372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4E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Adopt a pnpm monorepo immediately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22960" y="2084832"/>
            <a:ext cx="10637215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spec repeatedly requires sharing Zod schemas and DTO types between the API and the web app. A shared package keeps a single source of truth for domain types from the very first commit — rather than retrofitting a monorepo later.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334E6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170432"/>
            <a:ext cx="12191695" cy="64008"/>
          </a:xfrm>
          <a:prstGeom prst="rect">
            <a:avLst/>
          </a:prstGeom>
          <a:solidFill>
            <a:srgbClr val="F0A202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8288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0A20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HOW TO RUN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457200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Bootstrap the workspace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6400800"/>
            <a:ext cx="1109441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Genuine Homes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48640" y="1554480"/>
            <a:ext cx="1109441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Install dependencies and start the local database + cache: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2468880"/>
            <a:ext cx="11094415" cy="3108960"/>
          </a:xfrm>
          <a:prstGeom prst="roundRect">
            <a:avLst>
              <a:gd name="adj" fmla="val 1176"/>
            </a:avLst>
          </a:prstGeom>
          <a:solidFill>
            <a:srgbClr val="0F172A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2697480"/>
            <a:ext cx="10545775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pnpm install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pnpm db:up    # Docker Desktop must be running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Genuine Homes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Genuine Homes</dc:creator>
  <cp:lastModifiedBy>Genuine Homes</cp:lastModifiedBy>
  <cp:revision>1</cp:revision>
  <dcterms:created xsi:type="dcterms:W3CDTF">2026-06-24T13:03:03Z</dcterms:created>
  <dcterms:modified xsi:type="dcterms:W3CDTF">2026-06-24T13:03:03Z</dcterms:modified>
</cp:coreProperties>
</file>